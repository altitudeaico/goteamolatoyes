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Multiplier</c:v>
                </c:pt>
              </c:strCache>
            </c:strRef>
          </c:tx>
          <c:spPr>
            <a:solidFill>
              <a:srgbClr val="E6C46A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E8C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 tiles</c:v>
                  </c:pt>
                  <c:pt idx="1">
                    <c:v>3 tiles</c:v>
                  </c:pt>
                  <c:pt idx="2">
                    <c:v>4 tiles</c:v>
                  </c:pt>
                  <c:pt idx="3">
                    <c:v>5 tiles</c:v>
                  </c:pt>
                  <c:pt idx="4">
                    <c:v>6 tiles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1.59</c:v>
                </c:pt>
                <c:pt idx="1">
                  <c:v>2.01</c:v>
                </c:pt>
                <c:pt idx="2">
                  <c:v>2.43</c:v>
                </c:pt>
                <c:pt idx="3">
                  <c:v>2.85</c:v>
                </c:pt>
                <c:pt idx="4">
                  <c:v>3.27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3E8C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6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12700" cap="flat">
              <a:solidFill>
                <a:srgbClr val="222C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6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Tiles in the Ward</c:v>
                </c:pt>
              </c:strCache>
            </c:strRef>
          </c:tx>
          <c:spPr>
            <a:solidFill>
              <a:srgbClr val="B98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E8C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Under 35% exact</c:v>
                  </c:pt>
                  <c:pt idx="1">
                    <c:v>35 – 80% exact</c:v>
                  </c:pt>
                  <c:pt idx="2">
                    <c:v>Over 80% exact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3E8C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6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12700" cap="flat">
              <a:solidFill>
                <a:srgbClr val="222C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6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match rate</c:v>
                </c:pt>
              </c:strCache>
            </c:strRef>
          </c:tx>
          <c:spPr>
            <a:solidFill>
              <a:srgbClr val="4FD8A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3E8C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Addition</c:v>
                  </c:pt>
                  <c:pt idx="1">
                    <c:v>Subtraction</c:v>
                  </c:pt>
                  <c:pt idx="2">
                    <c:v>Multiplication</c:v>
                  </c:pt>
                  <c:pt idx="3">
                    <c:v>Division</c:v>
                  </c:pt>
                  <c:pt idx="4">
                    <c:v>Fractions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</c:v>
                </c:pt>
                <c:pt idx="1">
                  <c:v>78</c:v>
                </c:pt>
                <c:pt idx="2">
                  <c:v>64</c:v>
                </c:pt>
                <c:pt idx="3">
                  <c:v>41</c:v>
                </c:pt>
                <c:pt idx="4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3E8C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6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222C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6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the deck argues one thesis — the maths carries the tactics rather than gating them. The mismatch shown bottom right is deliberate; slide 4 resolves it and it's the bug that shaped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term for the failure mode on the left is chocolate-covered broccoli. The test for whether you have escaped it: can you remove the educational content and still have a game?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beat 2: wards are generated from the hand the player is holding, so an exact solution is guaranteed to exist. Verified across 3,240 generated 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operations is taught here by consequence rather than instruction: the spell you expected to land simply doesn't, and the feedback explains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graze band is what keeps estimation valuable. A child who reasons 'about fifty' and lands on 49 is rewarded, not punished.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Multiplier applies to base spell power. Formula: 0.75 + 0.42 per tile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five map to the operators. Class choice changes which arithmetic you practise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Decimal Duelist is deliberately the estimation class and is the one worth arguing about — see the closing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Geometry City, Algebra Fortress and Probability Islands wrap the Ward in a word problem: the target is hidden inside a shape, an equation or a percentage and must be worked out before it can be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mechanism that lets one build serve a struggling seven-year-old and a bored twelve-year-old without either of them choosing a difficulty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boss surrenders that region's legendary artifact on death — see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and magnitude of the error, every single time. This is formative feedback rather than a verdict, and it is the part of the design most likely to move a child's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 the solver is also what exposed the game's precedence bug: two components had to agree on an answer, and they didn't.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relic is mechanical rather than cosmetic. The Abacus in particular changes the feel of every subsequent hand, which is why it is the first one a player earns.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Tower is the interesting one: unlocking brackets changes the answer a given expression produces, so it is a mechanical upgrade and a lesson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 is the load-bearing currency and the one the closing slide raises a fairness question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that matters to a teacher: none of these are presented as lessons. They are the entry requirements for winning a fight.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data. The real screen fills in only for regions the player has actually fought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cut was deliberate. A vertical slice that proves the core claim is worth more than a document describing sixty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on unresolved tensions rather than a summary — these are the three things a playtest should be built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overview of the playable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KINGDOM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Chaos of Numbers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fantasy RPG in which arithmetic is not a quiz between fights. It is the fight.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heroes · nine regions · thirteen legendary artifacts · one warlock who refuses to lie to you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595360" y="1874520"/>
            <a:ext cx="2834640" cy="283464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187452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595360" y="14813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06840" y="4983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4983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966960" y="4983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4983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27080" y="4983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27080" y="4983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5360" y="5943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+ 6 × 7  ≠  105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GAME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maths games hide the maths behind the fun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1A2454"/>
          </a:solidFill>
          <a:ln w="15875">
            <a:solidFill>
              <a:srgbClr val="FF7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usual pattern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3017520"/>
            <a:ext cx="4617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an orc. Answer 7 × 8. Kill another orc.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a tollbooth: pay it, then resume playing.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arithmetic and the game still works — which means it was never really there.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learn to endure the maths to reach the reward.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286000"/>
            <a:ext cx="566928" cy="566928"/>
          </a:xfrm>
          <a:prstGeom prst="ellipse">
            <a:avLst/>
          </a:prstGeom>
          <a:solidFill>
            <a:srgbClr val="1A2454"/>
          </a:solidFill>
          <a:ln w="15875">
            <a:solidFill>
              <a:srgbClr val="4FD8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2331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Math Kingdom does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47688" y="3017520"/>
            <a:ext cx="4617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foe raises a Ward: one number.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dealt tiles and build an expression that equals it.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tiles to spend and which operators to chain IS the tactical decision.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arithmetic and there is no combat system left at all.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turn, five beats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twenty seconds. Repeated a few thousand times across a playthrough.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51560" y="2148840"/>
            <a:ext cx="1005840" cy="100584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eight number tiles land in your hand.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48840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1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55848" y="2148840"/>
            <a:ext cx="1005840" cy="100584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07208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Ward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807208" y="37490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foe raises a target number, generated from your own hand so a route always exists.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53128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1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60136" y="2148840"/>
            <a:ext cx="1005840" cy="100584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0136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11496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111496" y="37490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tiles and operators. A running total updates as you go.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57416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1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964424" y="2148840"/>
            <a:ext cx="1005840" cy="100584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15784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15784" y="37490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breaks the Ward whole. Close grazes. Wild scatters.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61704" y="2377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14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268712" y="2148840"/>
            <a:ext cx="1005840" cy="100584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68712" y="21488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20072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720072" y="37490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foe strikes back. New hand, new Ward, harder or easier than the last.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single cast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97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65960" y="2697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697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71800" y="2697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697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77640" y="2697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697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983480" y="2697480"/>
            <a:ext cx="658368" cy="777240"/>
          </a:xfrm>
          <a:prstGeom prst="roundRect">
            <a:avLst>
              <a:gd name="adj" fmla="val 13889"/>
            </a:avLst>
          </a:prstGeom>
          <a:solidFill>
            <a:srgbClr val="222C63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69748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E8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+  6  ×  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012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spell resolves the way arithmetic actually resolves — multiplication and division first, left to right, then addition and subtraction.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377440"/>
            <a:ext cx="1463040" cy="146304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3774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28116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× 7 = 42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+ 42 = 51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105.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49440" y="45720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who reads left to right expects 105. The game does not, and neither does mathematics. That gap is the single most useful teaching moment in the design — and the warlock names it out loud when you miss.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outcomes, none of them a dead 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wrong costs you a turn. It never costs you the run, and it always tells you something.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1945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2808" y="2560320"/>
            <a:ext cx="914400" cy="9144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4FD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92808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D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damage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resonance. The Ward breaks whole and the relic effects that key off exactness all fire.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41848" y="2560320"/>
            <a:ext cx="914400" cy="9144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3611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43400" y="4023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 damage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44805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graze. You were close, and the game says by how much and in which direction.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21945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90888" y="2560320"/>
            <a:ext cx="914400" cy="9144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FF7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0888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092440" y="3611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else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92440" y="4023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 damage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44805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Scattered. Still a hit — the floor is never zero, because a zero teaches nothing.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spells hit harder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scales with the number of tiles bound into one expression, so the game rewards ambition over safety.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214884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2148840"/>
            <a:ext cx="3886200" cy="3840480"/>
          </a:xfrm>
          <a:prstGeom prst="roundRect">
            <a:avLst>
              <a:gd name="adj" fmla="val 1905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92440" y="297180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two-tile answer is always available and always weakest.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a Ward four ways and picking the longest is a strategy problem built out of arithmetic.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relics stack on top: the Sigma Sentinel gains a further 18% per tile past the second.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HEROES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of being right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biases you toward a different operator, so the same Ward is a different puzzle depending on who you 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4048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4FD8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D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18488" y="24780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Knight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harder on exact matches. Double Strike doubles the next spell.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4048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67528" y="24780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Equation Wizard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36008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tile every turn. Rewrite deals a fresh hand and Ward.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24048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6568" y="24780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Guardian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5048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health, takes less damage. Bulwark absorbs 40.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206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44622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B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462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18488" y="45354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 Ranger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86968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on any spell that divides. Divide and Conquer cuts a quarter off the foe.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206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4622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462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67528" y="45354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Rogue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636008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on spells of four or more tiles. Deduce writes a working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HEROES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more, added by request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later five push further into number theory, estimation and precedence.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4048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FF7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18488" y="24780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Berserker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 when every tile in the spell is prime. Indivisible turns lost health into damage.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4048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4FD8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D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67528" y="24780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Sigma Sentinel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36008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per tile past the second. Total Sum shields for twice the hand left over.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24048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B98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2404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6568" y="24780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 Monk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5048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Study uses and stronger healing. Empty Hand redeals tiles, keeps the Ward.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206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44622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462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18488" y="45354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 Duelist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86968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 graze at 80%. Round Up forces one near miss to count as exact.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206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462272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462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67528" y="453542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 Warden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636008" y="5120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before the Tower is built, +35% when using them. Reorder redraws the hand.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38160" y="23774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classes means ten different optimal reads of the same hand — which is the point. There is no single correct way to reach a number.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regions, three foes each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unlock in sequence. Each one narrows the operator set and the number range around a single idea.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9572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81912" y="23591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 Forest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81912" y="27066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bonds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39572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30952" y="23591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Subtraction Swamp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27066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210312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39572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957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79992" y="23591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Multiplication Mountains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79992" y="27066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tables, factors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566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85876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58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81912" y="3822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Desert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81912" y="41696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Factors, remainders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3566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85876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858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½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30952" y="3822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 Kingdom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30952" y="41696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a whole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3566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85876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858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∠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79992" y="38221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City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079992" y="41696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perimeter, angles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5029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532180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321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81912" y="5285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 Fortress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81912" y="56327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for the unknown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43400" y="5029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532180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5321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30952" y="5285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Islands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30952" y="56327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Percentages, ratio, chance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92440" y="50292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5321808"/>
            <a:ext cx="640080" cy="64008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5321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079992" y="5285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Number Realm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079992" y="563270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at once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watches you and moves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complexity is not a menu setting. It tracks exact-match accuracy inside the current fight.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228600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2286000"/>
            <a:ext cx="4343400" cy="1051560"/>
          </a:xfrm>
          <a:prstGeom prst="roundRect">
            <a:avLst>
              <a:gd name="adj" fmla="val 6957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2395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battle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89520" y="26974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casts at over 80% and the Ward grows a term. Below 35% and it simplifies. The log says so out loud, without scolding.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69480" y="3520440"/>
            <a:ext cx="4343400" cy="1051560"/>
          </a:xfrm>
          <a:prstGeom prst="roundRect">
            <a:avLst>
              <a:gd name="adj" fmla="val 6957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36301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battles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589520" y="39319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global dial shifts the starting complexity of every future fight up or down one step.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69480" y="4754880"/>
            <a:ext cx="4343400" cy="1051560"/>
          </a:xfrm>
          <a:prstGeom prst="roundRect">
            <a:avLst>
              <a:gd name="adj" fmla="val 6957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4864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below floor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589520" y="51663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 stay at two terms minimum. Struggling makes the game gentler, not emptier.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Foes with mathematical weaknesses, not just health bars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67712"/>
            <a:ext cx="685800" cy="6858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B98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67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to division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5420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Divider, Divide Djinn, Half Hound, Odds Corsair. Spells that divide deal 35% more.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639312"/>
            <a:ext cx="685800" cy="6858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39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566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to complexity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9136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boss. Spells of three or more tiles deal 30% more, so the finale of each region demands longer thinking.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754880"/>
            <a:ext cx="6766560" cy="1188720"/>
          </a:xfrm>
          <a:prstGeom prst="roundRect">
            <a:avLst>
              <a:gd name="adj" fmla="val 6154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010912"/>
            <a:ext cx="685800" cy="6858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109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83080" y="4937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foes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2852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weakness. These are where a player practises the region's core operator without a tactical wrinkle.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26680" y="201168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bosses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092440" y="27432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Goblin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 Knight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Titan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Djinn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Phantom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of Ruin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Dragon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Gambler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King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Vantor, the Remainder Warlock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the part of an equation that got left over. It gives one perspective.”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23160"/>
            <a:ext cx="658368" cy="658368"/>
          </a:xfrm>
          <a:prstGeom prst="ellipse">
            <a:avLst/>
          </a:prstGeom>
          <a:solidFill>
            <a:srgbClr val="1A2454"/>
          </a:solidFill>
          <a:ln w="15875">
            <a:solidFill>
              <a:srgbClr val="B98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487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Ward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4592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never answers. Odd or even. Prime. Below zero. Not a whole number. Larger than any tile you hold.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423160"/>
            <a:ext cx="658368" cy="658368"/>
          </a:xfrm>
          <a:prstGeom prst="ellipse">
            <a:avLst/>
          </a:prstGeom>
          <a:solidFill>
            <a:srgbClr val="1A2454"/>
          </a:solidFill>
          <a:ln w="15875">
            <a:solidFill>
              <a:srgbClr val="B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423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2487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me the first move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39496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insight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pair only. “Begin with 7 × 3. I will not tell you the rest.”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21488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423160"/>
            <a:ext cx="658368" cy="658368"/>
          </a:xfrm>
          <a:prstGeom prst="ellipse">
            <a:avLst/>
          </a:prstGeom>
          <a:solidFill>
            <a:srgbClr val="1A2454"/>
          </a:solidFill>
          <a:ln w="15875">
            <a:solidFill>
              <a:srgbClr val="B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2423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0" y="2487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it out for me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4400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insight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expression and every step of its resolution — then you still have to cast it yourself.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709160"/>
            <a:ext cx="11018520" cy="1371600"/>
          </a:xfrm>
          <a:prstGeom prst="roundRect">
            <a:avLst>
              <a:gd name="adj" fmla="val 5333"/>
            </a:avLst>
          </a:prstGeom>
          <a:solidFill>
            <a:srgbClr val="1E1A4A"/>
          </a:solidFill>
          <a:ln w="12700">
            <a:solidFill>
              <a:srgbClr val="B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also reacts unprompted after every cast: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5230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landed 51 against 105 — 54 too low. You need more from the multiplication, or one more tile.”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tutor is a solver, not a language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4FD8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∴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359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Vantor is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78408" y="29718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over every expression buildable from the tiles actually in your hand.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by the same code that judges your spell, so his advice and the game can never disagree.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propose a move you are unable to make.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instantly, at zero cost per hint.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286000"/>
            <a:ext cx="594360" cy="59436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FF7A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60920" y="2359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7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an LLM here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47688" y="29718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doing novel mental arithmetic is occasionally, confidently wrong.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confidently wrong maths tutor is the worst failure mode this product has.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also need a network connection mid-battle.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 for one: answering “why does × go first?” — explanation, not calculation.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legendary artifacts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are held by region bosses and drop guaranteed. Four lesser relics appear on ordinary foes about one fight in five.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774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3957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Abacus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944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tile every turn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70632" y="21945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3774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3957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Minus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35224" y="2944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subtracting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84064" y="21945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5232" y="23774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61304" y="23957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Stone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48656" y="2944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multiplying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97496" y="21945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98664" y="23774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74736" y="23957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Divider's Compass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62088" y="2944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dividing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10928" y="21945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12096" y="23774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1209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88168" y="23957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Phantom Half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75520" y="2944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Grazes always 80%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00200" y="35661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01368" y="37490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01368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77440" y="37673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Ratio 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764792" y="4315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on 3+ tiles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913632" y="35661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37490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90872" y="37673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Unknown X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078224" y="4315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reroll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27064" y="35661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8232" y="37490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04304" y="37673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Loaded Die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91656" y="4315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spell in 4 doubles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540496" y="35661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41664" y="37490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41664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317736" y="37673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King's Crown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705088" y="4315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heals 8%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00200" y="49377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01368" y="51206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1368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|||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377440" y="5138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Tally Bracelet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764792" y="5687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max health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913632" y="49377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0" y="51206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690872" y="5138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Warlock's Chalk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078224" y="5687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hints, extra Study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27064" y="49377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51206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28232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◉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004304" y="5138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Lens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391656" y="5687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Vantor reads every Ward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540496" y="493776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41664" y="5120640"/>
            <a:ext cx="502920" cy="50292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9FB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41664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B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⚖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9317736" y="5138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Counterweight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705088" y="5687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spell +60%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 BUILDING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buildings, all of them combat systems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decoration. Every upgrade changes what happens inside a battle.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441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of Numbers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3081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experience per level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2441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Workshop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85032" y="3081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tile in hand each turn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441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Arena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3081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maximum health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98280" y="2240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54312" y="2441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 Library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54312" y="3081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Study each battle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1330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 Tower of Algebra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4773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brackets — and precedence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3931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41330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 Farm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85032" y="4773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gold per victory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931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41330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Laboratory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47731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 reroll per battle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89720" y="40690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cost gold and insight — and insight is earned by getting Wards exactly right, so the kingdom grows out of accuracy rather than time spent.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currencies, three different behaviours rewarded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5146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FB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33832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38404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raise health and spell power. Awarded for finishing a fight, win or lose.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5146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343400" y="33832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38404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buildings and a night's rest. Scales with how deep into a region you fought.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1031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25146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D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092440" y="33832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EXACTLY RIGHT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58200" y="38404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buildings and pays the warlock. Earned per perfect resonance, so precision is the only source.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purchase of any kind buys any of the three. Everything on this slide is earned by playing.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game actually asks a player to 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topics the game mentions — operations it requires before it will let you win.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258568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0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addition and subtraction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21305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region, every turn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916936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tables to 14 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0" y="27889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Mountains onward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575304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and divisibility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23360" y="3447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Desert, Fraction Kingdom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233672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05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23360" y="41056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 Swamp, Final Realm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4892040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64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as exact quantities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23360" y="4764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Kingdom Wards arrive in halves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5550408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22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operations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23360" y="54223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cast; brackets via the Tower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258568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130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Primality and factors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92640" y="21305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Berserker, Prime Lens, Vantor's readings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916936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and error size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92640" y="27889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graze band; Decimal Duelist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575304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perimeter, angle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92640" y="3447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City word Wards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233672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4105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for an unknown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692640" y="41056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Fortress word Wards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892040"/>
            <a:ext cx="146304" cy="146304"/>
          </a:xfrm>
          <a:prstGeom prst="ellipse">
            <a:avLst/>
          </a:prstGeom>
          <a:solidFill>
            <a:srgbClr val="E6C46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764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and ratio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692640" y="4764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Islands word Wards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Hero screen is a learning dashboard in disguise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rate per region, updated every cast. Example profile below.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94360" y="2331720"/>
          <a:ext cx="6858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331720"/>
            <a:ext cx="3749040" cy="3566160"/>
          </a:xfrm>
          <a:prstGeom prst="roundRect">
            <a:avLst>
              <a:gd name="adj" fmla="val 2051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teacher sees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0" y="31546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child is fluent in addition and shaky on division — visible in ninety seconds without a test.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reads the same signal and softens division Wards automatically.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 framing stays supportive: a low bar is where the next lesson is, not a failure.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ABOUT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built, and what is still a document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4FD8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359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Playable now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78408" y="29718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classes, nine regions, twenty-seven fights.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Ward and casting system with exact rational arithmetic.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Vantor, thirteen artifacts, seven buildings, adaptive difficulty.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3,240 of 3,240 generated Wards provably solvable.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286000"/>
            <a:ext cx="594360" cy="59436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8A9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2359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9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Designed, not built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47688" y="297180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Multiplayer, tournaments and leaderboards.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traversal between regions rather than a menu map.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characters and voiced mentors.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Art, animation and audio — currently a typographic placeholder.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E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this design has not answered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11018520" cy="1188720"/>
          </a:xfrm>
          <a:prstGeom prst="roundRect">
            <a:avLst>
              <a:gd name="adj" fmla="val 6154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42032"/>
            <a:ext cx="685800" cy="6858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420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245059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graze band a mercy or a loophole?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83080" y="28163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Decimal Duelist rewards estimation, which is a real and underrated skill — but it also softens the exact-match rule the whole design rests on. Good class, or a difficulty setting wearing a costume?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11018520" cy="1188720"/>
          </a:xfrm>
          <a:prstGeom prst="roundRect">
            <a:avLst>
              <a:gd name="adj" fmla="val 6154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913632"/>
            <a:ext cx="685800" cy="6858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136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82219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hint economy regressive?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783080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cost insight. Insight is earned by getting Wards right. The players who most need help can least afford it. Motivating pressure, or a tax on struggling children?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11018520" cy="1188720"/>
          </a:xfrm>
          <a:prstGeom prst="roundRect">
            <a:avLst>
              <a:gd name="adj" fmla="val 6154"/>
            </a:avLst>
          </a:prstGeom>
          <a:solidFill>
            <a:srgbClr val="1A2454"/>
          </a:solidFill>
          <a:ln w="12700">
            <a:solidFill>
              <a:srgbClr val="3140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285232"/>
            <a:ext cx="685800" cy="685800"/>
          </a:xfrm>
          <a:prstGeom prst="ellipse">
            <a:avLst/>
          </a:prstGeom>
          <a:solidFill>
            <a:srgbClr val="1A2454"/>
          </a:solidFill>
          <a:ln w="15875">
            <a:solidFill>
              <a:srgbClr val="E6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28523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519379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fun survive the maths being removed?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83080" y="55595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this design set itself. If a playtester enjoys the Ward puzzle but learns nothing measurable, the thesis is wrong and the whole structure needs rebuilding.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617220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9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design that cannot name its own weak points has not been examined yet.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2026-08-01T12:44:29Z</dcterms:created>
  <dcterms:modified xsi:type="dcterms:W3CDTF">2026-08-01T12:44:29Z</dcterms:modified>
</cp:coreProperties>
</file>